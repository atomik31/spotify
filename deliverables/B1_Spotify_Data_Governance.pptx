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DB954"/>
                </a:solidFill>
                <a:latin typeface="Calibri"/>
              </a:rPr>
              <a:t>Spotify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Data Governance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3B3B3"/>
                </a:solidFill>
                <a:latin typeface="Calibri"/>
              </a:rPr>
              <a:t>Conception et mise en oeuvre d'une gouvernance des donnees conforme RGPD, CCPA &amp; PCI-DSS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37373"/>
                </a:solidFill>
                <a:latin typeface="Calibri"/>
              </a:rPr>
              <a:t>Julien CHARLIER  |  Bloc 1 AIA  |  Jedha Bootcamp  |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B954"/>
                </a:solidFill>
                <a:latin typeface="Calibri"/>
              </a:rPr>
              <a:t>Contexte &amp; Enjeux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DB954"/>
                </a:solidFill>
                <a:latin typeface="Calibri"/>
              </a:rPr>
              <a:t>600M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  <a:latin typeface="Calibri"/>
              </a:rPr>
              <a:t>utilisateurs actifs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DB954"/>
                </a:solidFill>
                <a:latin typeface="Calibri"/>
              </a:rPr>
              <a:t>180+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  <a:latin typeface="Calibri"/>
              </a:rPr>
              <a:t>pays couverts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DB954"/>
                </a:solidFill>
                <a:latin typeface="Calibri"/>
              </a:rPr>
              <a:t>100M+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  <a:latin typeface="Calibri"/>
              </a:rPr>
              <a:t>titres &amp; podcasts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188720"/>
            <a:ext cx="2560320" cy="16459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DB954"/>
                </a:solidFill>
                <a:latin typeface="Calibri"/>
              </a:rP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  <a:latin typeface="Calibri"/>
              </a:rPr>
              <a:t>amende max CA (RGPD)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Principaux defis identifies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  <a:latin typeface="Calibri"/>
              </a:rPr>
              <a:t>  • Silos de donnees entre Product, Marketing et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  <a:latin typeface="Calibri"/>
              </a:rPr>
              <a:t>  • Conformite RGPD/CCPA incomplete — risque juridique eleve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  <a:latin typeface="Calibri"/>
              </a:rPr>
              <a:t>  • Absence de DPO officiel et de catalogue de donnees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  <a:latin typeface="Calibri"/>
              </a:rPr>
              <a:t>  • Qualite de donnees insuffisante impactant les modeles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Calibri"/>
              </a:rPr>
              <a:t>Data Maturity Assessment — Score : 2.8 /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280160"/>
            <a:ext cx="4937760" cy="411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188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Calibri"/>
              </a:rPr>
              <a:t>3/5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Qualite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286000"/>
            <a:ext cx="3291840" cy="411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194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Calibri"/>
              </a:rPr>
              <a:t>2/5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Gouvernance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3291840"/>
            <a:ext cx="3291840" cy="411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Calibri"/>
              </a:rPr>
              <a:t>2/5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Securite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4297680"/>
            <a:ext cx="4937760" cy="411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4206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Calibri"/>
              </a:rPr>
              <a:t>3/5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12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Analytics / 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5303520"/>
            <a:ext cx="6583680" cy="411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5212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  <a:latin typeface="Calibri"/>
              </a:rPr>
              <a:t>4/5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37373"/>
                </a:solidFill>
                <a:latin typeface="Calibri"/>
              </a:rPr>
              <a:t>Niveau global : En transition (2.8/5)  —  Action prioritaire : Gouvernance &amp; Qualite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B954"/>
                </a:solidFill>
                <a:latin typeface="Calibri"/>
              </a:rPr>
              <a:t>Cadre de Gouvernance — 4 Piliers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4114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6517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Calibri"/>
              </a:rPr>
              <a:t>Qualite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Regles declaratives
dbt + Great Expectations
Monitoring temps reel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651760" cy="4114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Calibri"/>
              </a:rPr>
              <a:t>Securite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Chiffrement AES-256 + TLS
RBAC &amp; audits
Tokenisation PAN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651760" cy="4114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517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Calibri"/>
              </a:rPr>
              <a:t>Conformite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RGPD / CCPA / PCI-DSS
Registre des traitements
Droit a l'oubli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188720"/>
            <a:ext cx="2651760" cy="41148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188720"/>
            <a:ext cx="26517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234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1212"/>
                </a:solidFill>
                <a:latin typeface="Calibri"/>
              </a:rPr>
              <a:t>Catalogage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DataHub (metadata)
Lineage des donnees
Dictionnaire metier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Calibri"/>
              </a:rPr>
              <a:t>Modele Organisationnel — Centre d'Excellence (CoE)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1097280"/>
            <a:ext cx="2651760" cy="7315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Calibri"/>
              </a:rPr>
              <a:t>Chief Data Officer (CDO)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097280"/>
            <a:ext cx="2651760" cy="73152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188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DB954"/>
                </a:solidFill>
                <a:latin typeface="Calibri"/>
              </a:rPr>
              <a:t>DPO (Data Protection)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2651760" cy="8229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Data Steward
User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2651760" cy="8229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606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Data Steward
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560320"/>
            <a:ext cx="2651760" cy="8229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Data Steward
Financial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26517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Data Quality Analysts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114800"/>
            <a:ext cx="26517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160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Data Engineers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114800"/>
            <a:ext cx="265176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1605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BI Analysts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B954"/>
                </a:solidFill>
                <a:latin typeface="Calibri"/>
              </a:rPr>
              <a:t>Strategie de Conformite — RGPD / CCPA / PCI-DSS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Calibri"/>
              </a:rPr>
              <a:t>RGPD (UE)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DPO nomme et registre des traitements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Analyses d'impact (DPIA) obligatoires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Droit a l'oubli sous 30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Consentement explicite et granulaire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566160" cy="502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5661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Calibri"/>
              </a:rPr>
              <a:t>CCPA (Californie)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Droit d'opt-out de la vente de donnees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Divulgation annuelle des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Deletion request sous 45 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Privacy policy mise a jour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097280"/>
            <a:ext cx="3566160" cy="502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097280"/>
            <a:ext cx="3566160" cy="5029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1212"/>
                </a:solidFill>
                <a:latin typeface="Calibri"/>
              </a:rPr>
              <a:t>PCI-DSS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737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Tokenisation complete des donnees carte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432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Pas de stockage du CVV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Audit trimestriel par QSA certifie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54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3B3B3"/>
                </a:solidFill>
                <a:latin typeface="Calibri"/>
              </a:rPr>
              <a:t>• Segmentation reseau des systemes paiement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B954"/>
                </a:solidFill>
                <a:latin typeface="Calibri"/>
              </a:rPr>
              <a:t>Roadmap d'Implementation — 12 mois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6400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Calibri"/>
              </a:rPr>
              <a:t>Phase 1
M1-M3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B954"/>
                </a:solidFill>
                <a:latin typeface="Calibri"/>
              </a:rPr>
              <a:t>Fondations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Equipe gouvernance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Politique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Catalogue DataHub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Registre RGPD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566160" cy="6400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234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Calibri"/>
              </a:rPr>
              <a:t>Phase 2
M4-M6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500"/>
                </a:solidFill>
                <a:latin typeface="Calibri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Pipelines qualite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Pilote User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Formation equipes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Dashboard qualite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solidFill>
            <a:srgbClr val="00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234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212"/>
                </a:solidFill>
                <a:latin typeface="Calibri"/>
              </a:rPr>
              <a:t>Phase 3
M7-M12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EFF"/>
                </a:solidFill>
                <a:latin typeface="Calibri"/>
              </a:rPr>
              <a:t>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Extension domaines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91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Rapports RGPD auto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114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KPIs 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B3B3"/>
                </a:solidFill>
                <a:latin typeface="Calibri"/>
              </a:rPr>
              <a:t>• Certif. PCI-DSS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B954"/>
                </a:solidFill>
                <a:latin typeface="Calibri"/>
              </a:rPr>
              <a:t>KPIs &amp; Mesure du Succes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DB954"/>
                </a:solidFill>
                <a:latin typeface="Calibri"/>
              </a:rPr>
              <a:t>&gt;95%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Qualite des donnees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conformes aux regles qualite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47472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4747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17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DB954"/>
                </a:solidFill>
                <a:latin typeface="Calibri"/>
              </a:rPr>
              <a:t>&lt;15j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Traitement DSAR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834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delai moyen de reponse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4747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1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DB954"/>
                </a:solidFill>
                <a:latin typeface="Calibri"/>
              </a:rP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Couverture catalogue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actifs documentes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79"/>
            <a:ext cx="347472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40479"/>
            <a:ext cx="34747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3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DB954"/>
                </a:solidFill>
                <a:latin typeface="Calibri"/>
              </a:rPr>
              <a:t>&lt;2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377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Incidents securite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par trimestre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79"/>
            <a:ext cx="347472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840479"/>
            <a:ext cx="34747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97763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DB954"/>
                </a:solidFill>
                <a:latin typeface="Calibr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9377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Conformite RGPD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equipes formees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840479"/>
            <a:ext cx="3474720" cy="210312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840479"/>
            <a:ext cx="34747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977639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DB954"/>
                </a:solidFill>
                <a:latin typeface="Calibri"/>
              </a:rPr>
              <a:t>99.9%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9377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Disponibilite pipelines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39495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37373"/>
                </a:solidFill>
                <a:latin typeface="Calibri"/>
              </a:rPr>
              <a:t>SLA cible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B954"/>
                </a:solidFill>
                <a:latin typeface="Calibri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37373"/>
                </a:solidFill>
                <a:latin typeface="Calibri"/>
              </a:rPr>
              <a:t>Julien CHARLIER  |  Bloc 1 AIA  |  Jedha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DB954"/>
                </a:solidFill>
                <a:latin typeface="Calibri"/>
              </a:rPr>
              <a:t>github.com/Atomik31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